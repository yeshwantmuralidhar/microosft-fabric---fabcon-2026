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D6C7"/>
          </a:solidFill>
          <a:ln w="12700">
            <a:solidFill>
              <a:srgbClr val="38D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10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FABRIC  |  FABCON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89720" y="6510528"/>
            <a:ext cx="2404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7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OneLake Catalog client demo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en-us/fabric/governance/onelake-catalog-overview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ka.ms/OneLake-EU26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en-us/fabric/governance/onelake-catalog-overview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en-us/fabric/governance/onelake-catalog-explore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en-us/fabric/governance/onelake-catalog-govern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en-us/fabric/governance/secure-your-data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566928"/>
            <a:ext cx="73152" cy="73152"/>
          </a:xfrm>
          <a:prstGeom prst="ellipse">
            <a:avLst/>
          </a:prstGeom>
          <a:solidFill>
            <a:srgbClr val="8B7CF6">
              <a:alpha val="75000"/>
            </a:srgbClr>
          </a:solidFill>
          <a:ln w="12700">
            <a:solidFill>
              <a:srgbClr val="8B7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566928"/>
            <a:ext cx="73152" cy="73152"/>
          </a:xfrm>
          <a:prstGeom prst="ellipse">
            <a:avLst/>
          </a:prstGeom>
          <a:solidFill>
            <a:srgbClr val="17BEBB">
              <a:alpha val="75000"/>
            </a:srgbClr>
          </a:solidFill>
          <a:ln w="12700">
            <a:solidFill>
              <a:srgbClr val="17BEB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98280" y="566928"/>
            <a:ext cx="73152" cy="73152"/>
          </a:xfrm>
          <a:prstGeom prst="ellipse">
            <a:avLst/>
          </a:prstGeom>
          <a:solidFill>
            <a:srgbClr val="8B7CF6">
              <a:alpha val="75000"/>
            </a:srgbClr>
          </a:solidFill>
          <a:ln w="12700">
            <a:solidFill>
              <a:srgbClr val="8B7C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0" y="566928"/>
            <a:ext cx="73152" cy="73152"/>
          </a:xfrm>
          <a:prstGeom prst="ellipse">
            <a:avLst/>
          </a:prstGeom>
          <a:solidFill>
            <a:srgbClr val="17BEBB">
              <a:alpha val="75000"/>
            </a:srgbClr>
          </a:solidFill>
          <a:ln w="12700">
            <a:solidFill>
              <a:srgbClr val="17BEB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52760" y="566928"/>
            <a:ext cx="73152" cy="73152"/>
          </a:xfrm>
          <a:prstGeom prst="ellipse">
            <a:avLst/>
          </a:prstGeom>
          <a:solidFill>
            <a:srgbClr val="8B7CF6">
              <a:alpha val="75000"/>
            </a:srgbClr>
          </a:solidFill>
          <a:ln w="12700">
            <a:solidFill>
              <a:srgbClr val="8B7CF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43800" y="1353312"/>
            <a:ext cx="73152" cy="73152"/>
          </a:xfrm>
          <a:prstGeom prst="ellipse">
            <a:avLst/>
          </a:prstGeom>
          <a:solidFill>
            <a:srgbClr val="17BEBB">
              <a:alpha val="75000"/>
            </a:srgbClr>
          </a:solidFill>
          <a:ln w="12700">
            <a:solidFill>
              <a:srgbClr val="17BEB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1353312"/>
            <a:ext cx="73152" cy="73152"/>
          </a:xfrm>
          <a:prstGeom prst="ellipse">
            <a:avLst/>
          </a:prstGeom>
          <a:solidFill>
            <a:srgbClr val="8B7CF6">
              <a:alpha val="75000"/>
            </a:srgbClr>
          </a:solidFill>
          <a:ln w="12700">
            <a:solidFill>
              <a:srgbClr val="8B7CF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98280" y="1353312"/>
            <a:ext cx="73152" cy="73152"/>
          </a:xfrm>
          <a:prstGeom prst="ellipse">
            <a:avLst/>
          </a:prstGeom>
          <a:solidFill>
            <a:srgbClr val="17BEBB">
              <a:alpha val="75000"/>
            </a:srgbClr>
          </a:solidFill>
          <a:ln w="12700">
            <a:solidFill>
              <a:srgbClr val="17BEB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0" y="1353312"/>
            <a:ext cx="73152" cy="73152"/>
          </a:xfrm>
          <a:prstGeom prst="ellipse">
            <a:avLst/>
          </a:prstGeom>
          <a:solidFill>
            <a:srgbClr val="8B7CF6">
              <a:alpha val="75000"/>
            </a:srgbClr>
          </a:solidFill>
          <a:ln w="12700">
            <a:solidFill>
              <a:srgbClr val="8B7CF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52760" y="1353312"/>
            <a:ext cx="73152" cy="73152"/>
          </a:xfrm>
          <a:prstGeom prst="ellipse">
            <a:avLst/>
          </a:prstGeom>
          <a:solidFill>
            <a:srgbClr val="17BEBB">
              <a:alpha val="75000"/>
            </a:srgbClr>
          </a:solidFill>
          <a:ln w="12700">
            <a:solidFill>
              <a:srgbClr val="17BEB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0" y="1097280"/>
            <a:ext cx="4114800" cy="4114800"/>
          </a:xfrm>
          <a:prstGeom prst="ellipse">
            <a:avLst/>
          </a:prstGeom>
          <a:solidFill>
            <a:srgbClr val="07182F">
              <a:alpha val="0"/>
            </a:srgbClr>
          </a:solidFill>
          <a:ln w="50800">
            <a:solidFill>
              <a:srgbClr val="17BEBB">
                <a:alpha val="9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47888" y="1755648"/>
            <a:ext cx="2788920" cy="2788920"/>
          </a:xfrm>
          <a:prstGeom prst="ellipse">
            <a:avLst/>
          </a:prstGeom>
          <a:solidFill>
            <a:srgbClr val="07182F">
              <a:alpha val="0"/>
            </a:srgbClr>
          </a:solidFill>
          <a:ln w="50800">
            <a:solidFill>
              <a:srgbClr val="8B7CF6">
                <a:alpha val="9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17152" y="2724912"/>
            <a:ext cx="868680" cy="868680"/>
          </a:xfrm>
          <a:prstGeom prst="ellipse">
            <a:avLst/>
          </a:prstGeom>
          <a:solidFill>
            <a:srgbClr val="38D6C7"/>
          </a:solidFill>
          <a:ln w="12700">
            <a:solidFill>
              <a:srgbClr val="38D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17152" y="28803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7182F"/>
                </a:solidFill>
              </a:rPr>
              <a:t>1L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658368" y="612648"/>
            <a:ext cx="1261872" cy="292608"/>
          </a:xfrm>
          <a:prstGeom prst="roundRect">
            <a:avLst>
              <a:gd name="adj" fmla="val 25000"/>
            </a:avLst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62179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82F"/>
                </a:solidFill>
              </a:rPr>
              <a:t>CLIENT DEMO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1353312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OneLake Catalog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58368" y="2176272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8D6C7"/>
                </a:solidFill>
              </a:rPr>
              <a:t>Discover. Govern. Secure.</a:t>
            </a:r>
            <a:endParaRPr lang="en-US" sz="3100" dirty="0"/>
          </a:p>
        </p:txBody>
      </p:sp>
      <p:sp>
        <p:nvSpPr>
          <p:cNvPr id="20" name="Text 18"/>
          <p:cNvSpPr/>
          <p:nvPr/>
        </p:nvSpPr>
        <p:spPr>
          <a:xfrm>
            <a:off x="658368" y="306324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DD9E8"/>
                </a:solidFill>
              </a:rPr>
              <a:t>FabCon &amp; SQLCon 2026 updates translated into a practical governance demo for enterprise data and AI.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" y="60533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3A4BA"/>
                </a:solidFill>
              </a:rPr>
              <a:t>Updated October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17BEBB"/>
                </a:solidFill>
              </a:rPr>
              <a:t>EXECUTIVE TAKEAWAY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238"/>
                </a:solidFill>
              </a:rPr>
              <a:t>One front door for the Fabric data estate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280160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38A"/>
                </a:solidFill>
              </a:rPr>
              <a:t>A single catalog experience connects trusted discovery, governance action, and access control.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686032" y="65013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738A"/>
                </a:solidFill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13232" y="1993392"/>
            <a:ext cx="3154680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9E2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F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9264" y="2249424"/>
            <a:ext cx="475488" cy="475488"/>
          </a:xfrm>
          <a:prstGeom prst="ellipse">
            <a:avLst/>
          </a:prstGeom>
          <a:solidFill>
            <a:srgbClr val="53BFF5"/>
          </a:solidFill>
          <a:ln w="12700">
            <a:solidFill>
              <a:srgbClr val="53BF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258568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81912" y="2249424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238"/>
                </a:solidFill>
              </a:rPr>
              <a:t>EXPLORE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2843784"/>
            <a:ext cx="26060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738A"/>
                </a:solidFill>
              </a:rPr>
              <a:t>Find items across workspaces. Inspect owner, refresh, endorsement, sensitivity, lineage, and item details.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60520" y="1993392"/>
            <a:ext cx="3154680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9E2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F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16552" y="2249424"/>
            <a:ext cx="475488" cy="475488"/>
          </a:xfrm>
          <a:prstGeom prst="ellipse">
            <a:avLst/>
          </a:prstGeom>
          <a:solidFill>
            <a:srgbClr val="8B7CF6"/>
          </a:solidFill>
          <a:ln w="12700">
            <a:solidFill>
              <a:srgbClr val="8B7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2258568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0" y="2249424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238"/>
                </a:solidFill>
              </a:rPr>
              <a:t>GOVERN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34840" y="2843784"/>
            <a:ext cx="26060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738A"/>
                </a:solidFill>
              </a:rPr>
              <a:t>Measure governance health. Prioritize recommended actions. Manage domains, policies, capacities, workspaces, and tenant settings.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07808" y="1993392"/>
            <a:ext cx="3154680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9E2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F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63840" y="2249424"/>
            <a:ext cx="475488" cy="475488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2258568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76488" y="2249424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238"/>
                </a:solidFill>
              </a:rPr>
              <a:t>SECURE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882128" y="2843784"/>
            <a:ext cx="26060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738A"/>
                </a:solidFill>
              </a:rPr>
              <a:t>Audit users and roles. Manage workspace permissions and OneLake security roles from one central experience.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822192" y="2889504"/>
            <a:ext cx="274320" cy="502920"/>
          </a:xfrm>
          <a:prstGeom prst="chevron">
            <a:avLst/>
          </a:prstGeom>
          <a:solidFill>
            <a:srgbClr val="B6C7D6"/>
          </a:solidFill>
          <a:ln w="12700">
            <a:solidFill>
              <a:srgbClr val="B6C7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69480" y="2889504"/>
            <a:ext cx="274320" cy="502920"/>
          </a:xfrm>
          <a:prstGeom prst="chevron">
            <a:avLst/>
          </a:prstGeom>
          <a:solidFill>
            <a:srgbClr val="B6C7D6"/>
          </a:solidFill>
          <a:ln w="12700">
            <a:solidFill>
              <a:srgbClr val="B6C7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29968" y="4892040"/>
            <a:ext cx="8129016" cy="758952"/>
          </a:xfrm>
          <a:prstGeom prst="roundRect">
            <a:avLst>
              <a:gd name="adj" fmla="val 9639"/>
            </a:avLst>
          </a:prstGeom>
          <a:solidFill>
            <a:srgbClr val="07182F"/>
          </a:solidFill>
          <a:ln w="12700">
            <a:solidFill>
              <a:srgbClr val="0718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04288" y="51023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38D6C7"/>
                </a:solidFill>
              </a:rPr>
              <a:t>CLIENT VALUE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66160" y="5038344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Faster reuse  +  visible ownership  +  policy at scale  +  least-privilege access</a:t>
            </a:r>
            <a:endParaRPr lang="en-US" sz="1450" dirty="0"/>
          </a:p>
        </p:txBody>
      </p:sp>
      <p:sp>
        <p:nvSpPr>
          <p:cNvPr id="26" name="Text 24">
            <a:hlinkClick r:id="rId1" tooltip=""/>
          </p:cNvPr>
          <p:cNvSpPr/>
          <p:nvPr/>
        </p:nvSpPr>
        <p:spPr>
          <a:xfrm>
            <a:off x="621792" y="623620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u="sng" dirty="0">
                <a:solidFill>
                  <a:srgbClr val="6D7888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Microsoft Learn - OneLake catalog overview (updated Sep 29, 2026)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17BEBB"/>
                </a:solidFill>
              </a:rPr>
              <a:t>FABCON 2026 RELEASE LENS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238"/>
                </a:solidFill>
              </a:rPr>
              <a:t>What changed for catalog and governance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280160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38A"/>
                </a:solidFill>
              </a:rPr>
              <a:t>The newest capabilities move OneLake from passive inventory toward active, policy-driven governance.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686032" y="65013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738A"/>
                </a:solidFill>
              </a:rPr>
              <a:t>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49300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9E2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F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057400"/>
            <a:ext cx="713232" cy="292608"/>
          </a:xfrm>
          <a:prstGeom prst="roundRect">
            <a:avLst>
              <a:gd name="adj" fmla="val 25000"/>
            </a:avLst>
          </a:prstGeom>
          <a:solidFill>
            <a:srgbClr val="33B679"/>
          </a:solidFill>
          <a:ln w="12700">
            <a:solidFill>
              <a:srgbClr val="33B6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06654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459736"/>
            <a:ext cx="3081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42238"/>
                </a:solidFill>
              </a:rPr>
              <a:t>Excel catalog integration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282549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5738A"/>
                </a:solidFill>
              </a:rPr>
              <a:t>Discover governed Fabric data inside Excel's modern Get Data flow.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462272" y="1874520"/>
            <a:ext cx="349300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9E2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F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05740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F6B84A"/>
          </a:solidFill>
          <a:ln w="12700">
            <a:solidFill>
              <a:srgbClr val="F6B8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06654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82F"/>
                </a:solidFill>
              </a:rPr>
              <a:t>ANNOUNCED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2459736"/>
            <a:ext cx="3081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42238"/>
                </a:solidFill>
              </a:rPr>
              <a:t>Foundry + OneLake Catalog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63440" y="282549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5738A"/>
                </a:solidFill>
              </a:rPr>
              <a:t>Bring metadata, endorsements, labels, and descriptions into AI knowledge.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284464" y="1874520"/>
            <a:ext cx="349300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9E2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F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85632" y="2057400"/>
            <a:ext cx="713232" cy="292608"/>
          </a:xfrm>
          <a:prstGeom prst="roundRect">
            <a:avLst>
              <a:gd name="adj" fmla="val 25000"/>
            </a:avLst>
          </a:prstGeom>
          <a:solidFill>
            <a:srgbClr val="33B679"/>
          </a:solidFill>
          <a:ln w="12700">
            <a:solidFill>
              <a:srgbClr val="33B6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85632" y="206654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85632" y="2459736"/>
            <a:ext cx="3081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42238"/>
                </a:solidFill>
              </a:rPr>
              <a:t>Redesigned permission audit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485632" y="282549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5738A"/>
                </a:solidFill>
              </a:rPr>
              <a:t>See who can access a table and what an individual can see; change roles in context.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40080" y="3867912"/>
            <a:ext cx="349300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9E2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F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" y="4050792"/>
            <a:ext cx="713232" cy="292608"/>
          </a:xfrm>
          <a:prstGeom prst="roundRect">
            <a:avLst>
              <a:gd name="adj" fmla="val 25000"/>
            </a:avLst>
          </a:prstGeom>
          <a:solidFill>
            <a:srgbClr val="8B7CF6"/>
          </a:solidFill>
          <a:ln w="12700">
            <a:solidFill>
              <a:srgbClr val="8B7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05993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PREVIEW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" y="4453128"/>
            <a:ext cx="3081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42238"/>
                </a:solidFill>
              </a:rPr>
              <a:t>Policies in Fabric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41248" y="481888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5738A"/>
                </a:solidFill>
              </a:rPr>
              <a:t>Attribute-based controls for item creation and workspace security, with centralized management.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462272" y="3867912"/>
            <a:ext cx="349300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9E2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F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4050792"/>
            <a:ext cx="713232" cy="292608"/>
          </a:xfrm>
          <a:prstGeom prst="roundRect">
            <a:avLst>
              <a:gd name="adj" fmla="val 25000"/>
            </a:avLst>
          </a:prstGeom>
          <a:solidFill>
            <a:srgbClr val="33B679"/>
          </a:solidFill>
          <a:ln w="12700">
            <a:solidFill>
              <a:srgbClr val="33B67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405993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4453128"/>
            <a:ext cx="3081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42238"/>
                </a:solidFill>
              </a:rPr>
              <a:t>Shortcut outbound protection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663440" y="481888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5738A"/>
                </a:solidFill>
              </a:rPr>
              <a:t>Control which external sources and endpoints a workspace shortcut can reach.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284464" y="3867912"/>
            <a:ext cx="349300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9E2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F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485632" y="4050792"/>
            <a:ext cx="713232" cy="292608"/>
          </a:xfrm>
          <a:prstGeom prst="roundRect">
            <a:avLst>
              <a:gd name="adj" fmla="val 25000"/>
            </a:avLst>
          </a:prstGeom>
          <a:solidFill>
            <a:srgbClr val="8B7CF6"/>
          </a:solidFill>
          <a:ln w="12700">
            <a:solidFill>
              <a:srgbClr val="8B7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85632" y="405993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PREVIEW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85632" y="4453128"/>
            <a:ext cx="3081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42238"/>
                </a:solidFill>
              </a:rPr>
              <a:t>Snowflake role replication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485632" y="481888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5738A"/>
                </a:solidFill>
              </a:rPr>
              <a:t>Translate source-defined roles and permissions into OneLake security during mirroring.</a:t>
            </a:r>
            <a:endParaRPr lang="en-US" sz="1080" dirty="0"/>
          </a:p>
        </p:txBody>
      </p:sp>
      <p:sp>
        <p:nvSpPr>
          <p:cNvPr id="36" name="Text 34">
            <a:hlinkClick r:id="rId1" tooltip=""/>
          </p:cNvPr>
          <p:cNvSpPr/>
          <p:nvPr/>
        </p:nvSpPr>
        <p:spPr>
          <a:xfrm>
            <a:off x="621792" y="623620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u="sng" dirty="0">
                <a:solidFill>
                  <a:srgbClr val="6D7888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Sources: FabCon &amp; SQLCon 2026 keynote and OneLake deep dive - aka.ms/FabCon-SQLCon-Barcelona | aka.ms/OneLake-EU26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17BEBB"/>
                </a:solidFill>
              </a:rPr>
              <a:t>CLIENT DEMONSTRATION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238"/>
                </a:solidFill>
              </a:rPr>
              <a:t>A 12-minute story: from search to governed access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280160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38A"/>
                </a:solidFill>
              </a:rPr>
              <a:t>Use one business question and follow the same asset through Explore, Govern, and Secure.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686032" y="65013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738A"/>
                </a:solidFill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58368" y="2066544"/>
            <a:ext cx="1956816" cy="2907792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11430">
            <a:solidFill>
              <a:srgbClr val="D9E2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F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295144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3BFF5"/>
                </a:solidFill>
              </a:rPr>
              <a:t>01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238"/>
                </a:solidFill>
              </a:rPr>
              <a:t>Find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584448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738A"/>
                </a:solidFill>
              </a:rPr>
              <a:t>Search for the certified Sales semantic model.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70048" y="3236976"/>
            <a:ext cx="201168" cy="457200"/>
          </a:xfrm>
          <a:prstGeom prst="chevron">
            <a:avLst/>
          </a:prstGeom>
          <a:solidFill>
            <a:srgbClr val="AAB9C8"/>
          </a:solidFill>
          <a:ln w="12700">
            <a:solidFill>
              <a:srgbClr val="AAB9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35224" y="2066544"/>
            <a:ext cx="1956816" cy="2907792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11430">
            <a:solidFill>
              <a:srgbClr val="D9E2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F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99816" y="2295144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BEBB"/>
                </a:solidFill>
              </a:rPr>
              <a:t>02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099816" y="29718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238"/>
                </a:solidFill>
              </a:rPr>
              <a:t>Trust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099816" y="3584448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738A"/>
                </a:solidFill>
              </a:rPr>
              <a:t>Validate owner, freshness, endorsement, sensitivity, and lineage.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946904" y="3236976"/>
            <a:ext cx="201168" cy="457200"/>
          </a:xfrm>
          <a:prstGeom prst="chevron">
            <a:avLst/>
          </a:prstGeom>
          <a:solidFill>
            <a:srgbClr val="AAB9C8"/>
          </a:solidFill>
          <a:ln w="12700">
            <a:solidFill>
              <a:srgbClr val="AAB9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2066544"/>
            <a:ext cx="1956816" cy="2907792"/>
          </a:xfrm>
          <a:prstGeom prst="roundRect">
            <a:avLst>
              <a:gd name="adj" fmla="val 3271"/>
            </a:avLst>
          </a:prstGeom>
          <a:solidFill>
            <a:srgbClr val="07182F"/>
          </a:solidFill>
          <a:ln w="11430">
            <a:solidFill>
              <a:srgbClr val="07182F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F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76672" y="2295144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8B7CF6"/>
                </a:solidFill>
              </a:rPr>
              <a:t>03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5376672" y="29718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Assess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76672" y="3584448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DD9E8"/>
                </a:solidFill>
              </a:rPr>
              <a:t>Open Governance Health and identify gaps or recommended actions.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223760" y="3236976"/>
            <a:ext cx="201168" cy="457200"/>
          </a:xfrm>
          <a:prstGeom prst="chevron">
            <a:avLst/>
          </a:prstGeom>
          <a:solidFill>
            <a:srgbClr val="AAB9C8"/>
          </a:solidFill>
          <a:ln w="12700">
            <a:solidFill>
              <a:srgbClr val="AAB9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88936" y="2066544"/>
            <a:ext cx="1956816" cy="2907792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11430">
            <a:solidFill>
              <a:srgbClr val="D9E2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F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53528" y="2295144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6B84A"/>
                </a:solidFill>
              </a:rPr>
              <a:t>04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7653528" y="29718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238"/>
                </a:solidFill>
              </a:rPr>
              <a:t>Control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653528" y="3584448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738A"/>
                </a:solidFill>
              </a:rPr>
              <a:t>Inspect users, workspace roles, and OneLake security roles.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500616" y="3236976"/>
            <a:ext cx="201168" cy="457200"/>
          </a:xfrm>
          <a:prstGeom prst="chevron">
            <a:avLst/>
          </a:prstGeom>
          <a:solidFill>
            <a:srgbClr val="AAB9C8"/>
          </a:solidFill>
          <a:ln w="12700">
            <a:solidFill>
              <a:srgbClr val="AAB9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65792" y="2066544"/>
            <a:ext cx="1956816" cy="2907792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11430">
            <a:solidFill>
              <a:srgbClr val="D9E2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F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930384" y="2295144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3B679"/>
                </a:solidFill>
              </a:rPr>
              <a:t>05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9930384" y="29718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238"/>
                </a:solidFill>
              </a:rPr>
              <a:t>Activate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930384" y="3584448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5738A"/>
                </a:solidFill>
              </a:rPr>
              <a:t>Open in Excel or ground a Foundry solution with governed context.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5800" y="5367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7BEBB"/>
                </a:solidFill>
              </a:rPr>
              <a:t>DEMO TIP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72768" y="5321808"/>
            <a:ext cx="882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238"/>
                </a:solidFill>
              </a:rPr>
              <a:t>Use a real client domain and one familiar data product; avoid touring every menu.</a:t>
            </a:r>
            <a:endParaRPr lang="en-US" sz="1500" dirty="0"/>
          </a:p>
        </p:txBody>
      </p:sp>
      <p:sp>
        <p:nvSpPr>
          <p:cNvPr id="32" name="Text 30">
            <a:hlinkClick r:id="rId1" tooltip=""/>
          </p:cNvPr>
          <p:cNvSpPr/>
          <p:nvPr/>
        </p:nvSpPr>
        <p:spPr>
          <a:xfrm>
            <a:off x="621792" y="623620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u="sng" dirty="0">
                <a:solidFill>
                  <a:srgbClr val="6D7888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flow based on Microsoft Learn OneLake Catalog Explore, Govern, and Secure experiences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17BEBB"/>
                </a:solidFill>
              </a:rPr>
              <a:t>EXPLORE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238"/>
                </a:solidFill>
              </a:rPr>
              <a:t>Make trusted data easy to find and understand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280160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38A"/>
                </a:solidFill>
              </a:rPr>
              <a:t>The catalog preserves browsing context while exposing the trust signals needed to reuse an item.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686032" y="65013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738A"/>
                </a:solidFill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58368" y="1865376"/>
            <a:ext cx="7452360" cy="3858768"/>
          </a:xfrm>
          <a:prstGeom prst="roundRect">
            <a:avLst>
              <a:gd name="adj" fmla="val 1896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F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865376"/>
            <a:ext cx="7452360" cy="484632"/>
          </a:xfrm>
          <a:prstGeom prst="rect">
            <a:avLst/>
          </a:prstGeom>
          <a:solidFill>
            <a:srgbClr val="07182F"/>
          </a:solidFill>
          <a:ln w="12700">
            <a:solidFill>
              <a:srgbClr val="0718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00253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OneLake Catalog   /   Explore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50976" y="2587752"/>
            <a:ext cx="2240280" cy="384048"/>
          </a:xfrm>
          <a:prstGeom prst="roundRect">
            <a:avLst>
              <a:gd name="adj" fmla="val 11905"/>
            </a:avLst>
          </a:prstGeom>
          <a:solidFill>
            <a:srgbClr val="F2F6F8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68833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5738A"/>
                </a:solidFill>
              </a:rPr>
              <a:t>Search: Sales performance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346704" y="2624328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E8F2F5"/>
          </a:solidFill>
          <a:ln w="12700">
            <a:solidFill>
              <a:srgbClr val="E8F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6704" y="263347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238"/>
                </a:solidFill>
              </a:rPr>
              <a:t>Domain: Sales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17136" y="2624328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7136" y="2633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82F"/>
                </a:solidFill>
              </a:rPr>
              <a:t>Certified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32688" y="3218688"/>
            <a:ext cx="4434840" cy="530352"/>
          </a:xfrm>
          <a:prstGeom prst="rect">
            <a:avLst/>
          </a:prstGeom>
          <a:solidFill>
            <a:srgbClr val="EAF8F6"/>
          </a:solidFill>
          <a:ln w="6350">
            <a:solidFill>
              <a:srgbClr val="D9E2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8136" y="333756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42238"/>
                </a:solidFill>
              </a:rPr>
              <a:t>Sales Executive Model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2706624" y="333756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38A"/>
                </a:solidFill>
              </a:rPr>
              <a:t>Semantic model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03320" y="3337560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BEBB"/>
                </a:solidFill>
              </a:rPr>
              <a:t>Certified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99432" y="333756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65738A"/>
                </a:solidFill>
              </a:rPr>
              <a:t>Today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932688" y="3877056"/>
            <a:ext cx="4434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88136" y="399592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42238"/>
                </a:solidFill>
              </a:rPr>
              <a:t>Sales Lakehouse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2706624" y="39959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38A"/>
                </a:solidFill>
              </a:rPr>
              <a:t>Lakehouse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03320" y="3995928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38A"/>
                </a:solidFill>
              </a:rPr>
              <a:t>Promoted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99432" y="399592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65738A"/>
                </a:solidFill>
              </a:rPr>
              <a:t>Today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932688" y="4535424"/>
            <a:ext cx="4434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8136" y="465429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42238"/>
                </a:solidFill>
              </a:rPr>
              <a:t>Quarterly Pipeline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2706624" y="4654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38A"/>
                </a:solidFill>
              </a:rPr>
              <a:t>Report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703320" y="465429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38A"/>
                </a:solidFill>
              </a:rPr>
              <a:t>-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99432" y="465429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dirty="0">
                <a:solidFill>
                  <a:srgbClr val="65738A"/>
                </a:solidFill>
              </a:rPr>
              <a:t>Yesterday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577840" y="2587752"/>
            <a:ext cx="2267712" cy="2816352"/>
          </a:xfrm>
          <a:prstGeom prst="roundRect">
            <a:avLst>
              <a:gd name="adj" fmla="val 2016"/>
            </a:avLst>
          </a:prstGeom>
          <a:solidFill>
            <a:srgbClr val="F7F9FB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79008" y="27980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2238"/>
                </a:solidFill>
              </a:rPr>
              <a:t>Sales Executive Model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779008" y="340156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5738A"/>
                </a:solidFill>
              </a:rPr>
              <a:t>Owner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6693408" y="340156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42238"/>
                </a:solidFill>
              </a:rPr>
              <a:t>Sales Analytics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5779008" y="376732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5738A"/>
                </a:solidFill>
              </a:rPr>
              <a:t>Endorsement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693408" y="376732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42238"/>
                </a:solidFill>
              </a:rPr>
              <a:t>Certified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5779008" y="413308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5738A"/>
                </a:solidFill>
              </a:rPr>
              <a:t>Sensitivity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6693408" y="413308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42238"/>
                </a:solidFill>
              </a:rPr>
              <a:t>Confidential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5779008" y="449884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5738A"/>
                </a:solidFill>
              </a:rPr>
              <a:t>Refreshed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6693408" y="449884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42238"/>
                </a:solidFill>
              </a:rPr>
              <a:t>Today 08:00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5779008" y="486460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65738A"/>
                </a:solidFill>
              </a:rPr>
              <a:t>Domain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6693408" y="4864608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42238"/>
                </a:solidFill>
              </a:rPr>
              <a:t>Sales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8485632" y="2112264"/>
            <a:ext cx="475488" cy="475488"/>
          </a:xfrm>
          <a:prstGeom prst="ellipse">
            <a:avLst/>
          </a:prstGeom>
          <a:solidFill>
            <a:srgbClr val="53BFF5"/>
          </a:solidFill>
          <a:ln w="12700">
            <a:solidFill>
              <a:srgbClr val="53BF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85632" y="2121408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9125712" y="211226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238"/>
                </a:solidFill>
              </a:rPr>
              <a:t>Find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25712" y="2441448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5738A"/>
                </a:solidFill>
              </a:rPr>
              <a:t>Cross-workspace search and domain scoping</a:t>
            </a:r>
            <a:endParaRPr lang="en-US" sz="1130" dirty="0"/>
          </a:p>
        </p:txBody>
      </p:sp>
      <p:sp>
        <p:nvSpPr>
          <p:cNvPr id="46" name="Shape 44"/>
          <p:cNvSpPr/>
          <p:nvPr/>
        </p:nvSpPr>
        <p:spPr>
          <a:xfrm>
            <a:off x="8485632" y="3282696"/>
            <a:ext cx="475488" cy="475488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85632" y="3291840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9125712" y="328269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238"/>
                </a:solidFill>
              </a:rPr>
              <a:t>Trust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125712" y="3611880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5738A"/>
                </a:solidFill>
              </a:rPr>
              <a:t>Owner, freshness, endorsement, sensitivity</a:t>
            </a:r>
            <a:endParaRPr lang="en-US" sz="1130" dirty="0"/>
          </a:p>
        </p:txBody>
      </p:sp>
      <p:sp>
        <p:nvSpPr>
          <p:cNvPr id="50" name="Shape 48"/>
          <p:cNvSpPr/>
          <p:nvPr/>
        </p:nvSpPr>
        <p:spPr>
          <a:xfrm>
            <a:off x="8485632" y="4453128"/>
            <a:ext cx="475488" cy="475488"/>
          </a:xfrm>
          <a:prstGeom prst="ellipse">
            <a:avLst/>
          </a:prstGeom>
          <a:solidFill>
            <a:srgbClr val="8B7CF6"/>
          </a:solidFill>
          <a:ln w="12700">
            <a:solidFill>
              <a:srgbClr val="8B7C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85632" y="4462272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9125712" y="445312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238"/>
                </a:solidFill>
              </a:rPr>
              <a:t>Understand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125712" y="4782312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5738A"/>
                </a:solidFill>
              </a:rPr>
              <a:t>Details and lineage without losing context</a:t>
            </a:r>
            <a:endParaRPr lang="en-US" sz="1130" dirty="0"/>
          </a:p>
        </p:txBody>
      </p:sp>
      <p:sp>
        <p:nvSpPr>
          <p:cNvPr id="54" name="Text 52">
            <a:hlinkClick r:id="rId1" tooltip=""/>
          </p:cNvPr>
          <p:cNvSpPr/>
          <p:nvPr/>
        </p:nvSpPr>
        <p:spPr>
          <a:xfrm>
            <a:off x="621792" y="623620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u="sng" dirty="0">
                <a:solidFill>
                  <a:srgbClr val="6D7888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Microsoft Learn - Discover and explore Fabric items using OneLake Catalog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17BEBB"/>
                </a:solidFill>
              </a:rPr>
              <a:t>GOVERN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238"/>
                </a:solidFill>
              </a:rPr>
              <a:t>Turn governance signals into prioritized 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280160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38A"/>
                </a:solidFill>
              </a:rPr>
              <a:t>Governance Health shows where attention is needed; Recommended Actions explain what to do next.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686032" y="65013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738A"/>
                </a:solidFill>
              </a:rPr>
              <a:t>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67512" y="1865376"/>
            <a:ext cx="4663440" cy="3867912"/>
          </a:xfrm>
          <a:prstGeom prst="roundRect">
            <a:avLst>
              <a:gd name="adj" fmla="val 1891"/>
            </a:avLst>
          </a:prstGeom>
          <a:solidFill>
            <a:srgbClr val="07182F"/>
          </a:solidFill>
          <a:ln w="12700">
            <a:solidFill>
              <a:srgbClr val="07182F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F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762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Governance Health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0D4"/>
                </a:solidFill>
              </a:rPr>
              <a:t>All data in Fabric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3017520"/>
            <a:ext cx="1874520" cy="1874520"/>
          </a:xfrm>
          <a:prstGeom prst="ellipse">
            <a:avLst/>
          </a:prstGeom>
          <a:solidFill>
            <a:srgbClr val="07182F">
              <a:alpha val="0"/>
            </a:srgbClr>
          </a:solidFill>
          <a:ln w="139700">
            <a:solidFill>
              <a:srgbClr val="17BE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3547872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72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325880" y="40416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FC0D4"/>
                </a:solidFill>
              </a:rPr>
              <a:t>health score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154680" y="305409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B84A"/>
                </a:solidFill>
              </a:rPr>
              <a:t>18%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913632" y="3118104"/>
            <a:ext cx="1078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0DBE8"/>
                </a:solidFill>
              </a:rPr>
              <a:t>items unlabeled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54680" y="37856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6B73"/>
                </a:solidFill>
              </a:rPr>
              <a:t>31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13632" y="3849624"/>
            <a:ext cx="1078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0DBE8"/>
                </a:solidFill>
              </a:rPr>
              <a:t>missing owners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154680" y="451713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BEBB"/>
                </a:solidFill>
              </a:rPr>
              <a:t>64%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913632" y="4581144"/>
            <a:ext cx="1078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0DBE8"/>
                </a:solidFill>
              </a:rPr>
              <a:t>endorsed coverage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5193792"/>
            <a:ext cx="3941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FC0D4"/>
                </a:solidFill>
              </a:rPr>
              <a:t>Signals cover inventory, protection, security, compliance, trust, and reuse.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19568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238"/>
                </a:solidFill>
              </a:rPr>
              <a:t>Recommended Actions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5760720" y="2560320"/>
            <a:ext cx="55778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F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60720" y="2560320"/>
            <a:ext cx="91440" cy="713232"/>
          </a:xfrm>
          <a:prstGeom prst="rect">
            <a:avLst/>
          </a:prstGeom>
          <a:solidFill>
            <a:srgbClr val="F6B84A"/>
          </a:solidFill>
          <a:ln w="12700">
            <a:solidFill>
              <a:srgbClr val="F6B8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62472" y="2697480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238"/>
                </a:solidFill>
              </a:rPr>
              <a:t>Apply sensitivity labels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22792" y="270662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5738A"/>
                </a:solidFill>
              </a:rPr>
              <a:t>92 items need classification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25328" y="299923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BEBB"/>
                </a:solidFill>
              </a:rPr>
              <a:t>OPEN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760720" y="3474720"/>
            <a:ext cx="55778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F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60720" y="3474720"/>
            <a:ext cx="91440" cy="713232"/>
          </a:xfrm>
          <a:prstGeom prst="rect">
            <a:avLst/>
          </a:prstGeom>
          <a:solidFill>
            <a:srgbClr val="EB6B73"/>
          </a:solidFill>
          <a:ln w="12700">
            <a:solidFill>
              <a:srgbClr val="EB6B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62472" y="3611880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238"/>
                </a:solidFill>
              </a:rPr>
              <a:t>Assign accountable owners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22792" y="362102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5738A"/>
                </a:solidFill>
              </a:rPr>
              <a:t>31 items have no owner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625328" y="391363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BEBB"/>
                </a:solidFill>
              </a:rPr>
              <a:t>OPEN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760720" y="4389120"/>
            <a:ext cx="55778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F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760720" y="4389120"/>
            <a:ext cx="91440" cy="713232"/>
          </a:xfrm>
          <a:prstGeom prst="rect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62472" y="4526280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238"/>
                </a:solidFill>
              </a:rPr>
              <a:t>Improve trusted discovery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22792" y="453542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5738A"/>
                </a:solidFill>
              </a:rPr>
              <a:t>Certify high-use semantic models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25328" y="482803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BEBB"/>
                </a:solidFill>
              </a:rPr>
              <a:t>OPEN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760720" y="5440680"/>
            <a:ext cx="5577840" cy="347472"/>
          </a:xfrm>
          <a:prstGeom prst="roundRect">
            <a:avLst>
              <a:gd name="adj" fmla="val 13158"/>
            </a:avLst>
          </a:prstGeom>
          <a:solidFill>
            <a:srgbClr val="E8F2F5"/>
          </a:solidFill>
          <a:ln w="12700">
            <a:solidFill>
              <a:srgbClr val="E8F2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553212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238"/>
                </a:solidFill>
              </a:rPr>
              <a:t>Federate by domain; standardize with policies; act from one control plane.</a:t>
            </a:r>
            <a:endParaRPr lang="en-US" sz="1050" dirty="0"/>
          </a:p>
        </p:txBody>
      </p:sp>
      <p:sp>
        <p:nvSpPr>
          <p:cNvPr id="37" name="Text 35">
            <a:hlinkClick r:id="rId1" tooltip=""/>
          </p:cNvPr>
          <p:cNvSpPr/>
          <p:nvPr/>
        </p:nvSpPr>
        <p:spPr>
          <a:xfrm>
            <a:off x="621792" y="623620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u="sng" dirty="0">
                <a:solidFill>
                  <a:srgbClr val="6D7888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Microsoft Learn - Govern and manage your Fabric data with OneLake Catalog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17BEBB"/>
                </a:solidFill>
              </a:rPr>
              <a:t>SECURE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238"/>
                </a:solidFill>
              </a:rPr>
              <a:t>Audit access centrally; enforce least privilege on the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280160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38A"/>
                </a:solidFill>
              </a:rPr>
              <a:t>Workspace roles govern the control plane; OneLake security roles govern data scope and permissions.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686032" y="65013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738A"/>
                </a:solidFill>
              </a:rPr>
              <a:t>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58368" y="1920240"/>
            <a:ext cx="36576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F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41832" y="218541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238"/>
                </a:solidFill>
              </a:rPr>
              <a:t>Central security review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50976" y="2761488"/>
            <a:ext cx="475488" cy="475488"/>
          </a:xfrm>
          <a:prstGeom prst="ellipse">
            <a:avLst/>
          </a:prstGeom>
          <a:solidFill>
            <a:srgbClr val="53BFF5"/>
          </a:solidFill>
          <a:ln w="12700">
            <a:solidFill>
              <a:srgbClr val="53BF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770632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09344" y="27706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238"/>
                </a:solidFill>
              </a:rPr>
              <a:t>View users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609344" y="303580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5738A"/>
                </a:solidFill>
              </a:rPr>
              <a:t>Who has access across selected workspaces?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950976" y="3547872"/>
            <a:ext cx="475488" cy="475488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557016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09344" y="355701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238"/>
                </a:solidFill>
              </a:rPr>
              <a:t>View security roles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609344" y="382219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5738A"/>
                </a:solidFill>
              </a:rPr>
              <a:t>Which OneLake roles exist on which items?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950976" y="4334256"/>
            <a:ext cx="475488" cy="475488"/>
          </a:xfrm>
          <a:prstGeom prst="ellipse">
            <a:avLst/>
          </a:prstGeom>
          <a:solidFill>
            <a:srgbClr val="8B7CF6"/>
          </a:solidFill>
          <a:ln w="12700">
            <a:solidFill>
              <a:srgbClr val="8B7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4343400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9344" y="43434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238"/>
                </a:solidFill>
              </a:rPr>
              <a:t>Manage in bulk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609344" y="460857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5738A"/>
                </a:solidFill>
              </a:rPr>
              <a:t>Add, edit, or remove workspace access.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526280" y="3319272"/>
            <a:ext cx="502920" cy="822960"/>
          </a:xfrm>
          <a:prstGeom prst="chevron">
            <a:avLst/>
          </a:prstGeom>
          <a:solidFill>
            <a:srgbClr val="17BEBB"/>
          </a:solidFill>
          <a:ln w="12700">
            <a:solidFill>
              <a:srgbClr val="17BE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57800" y="1920240"/>
            <a:ext cx="6291072" cy="3520440"/>
          </a:xfrm>
          <a:prstGeom prst="roundRect">
            <a:avLst>
              <a:gd name="adj" fmla="val 2078"/>
            </a:avLst>
          </a:prstGeom>
          <a:solidFill>
            <a:srgbClr val="07182F"/>
          </a:solidFill>
          <a:ln w="12700">
            <a:solidFill>
              <a:srgbClr val="07182F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F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05272" y="21945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OneLake role = permission + data scope + members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596128" y="2953512"/>
            <a:ext cx="1627632" cy="1581912"/>
          </a:xfrm>
          <a:prstGeom prst="roundRect">
            <a:avLst>
              <a:gd name="adj" fmla="val 2890"/>
            </a:avLst>
          </a:prstGeom>
          <a:solidFill>
            <a:srgbClr val="132E50"/>
          </a:solidFill>
          <a:ln w="19050">
            <a:solidFill>
              <a:srgbClr val="53BF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33288" y="32186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53BFF5"/>
                </a:solidFill>
              </a:rPr>
              <a:t>PERMISSION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33288" y="3584448"/>
            <a:ext cx="13533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Read / ReadWrite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98080" y="2953512"/>
            <a:ext cx="1627632" cy="1581912"/>
          </a:xfrm>
          <a:prstGeom prst="roundRect">
            <a:avLst>
              <a:gd name="adj" fmla="val 2890"/>
            </a:avLst>
          </a:prstGeom>
          <a:solidFill>
            <a:srgbClr val="132E50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32186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8B7CF6"/>
                </a:solidFill>
              </a:rPr>
              <a:t>DATA IN ROLE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35240" y="3584448"/>
            <a:ext cx="13533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Tables, folders, schemas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+ row and column filters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400032" y="2953512"/>
            <a:ext cx="1627632" cy="1581912"/>
          </a:xfrm>
          <a:prstGeom prst="roundRect">
            <a:avLst>
              <a:gd name="adj" fmla="val 2890"/>
            </a:avLst>
          </a:prstGeom>
          <a:solidFill>
            <a:srgbClr val="132E50"/>
          </a:solidFill>
          <a:ln w="19050">
            <a:solidFill>
              <a:srgbClr val="17BE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37192" y="32186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17BEBB"/>
                </a:solidFill>
              </a:rPr>
              <a:t>MEMBERS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537192" y="3584448"/>
            <a:ext cx="13533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Entra users, groups,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and nonuser identities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05272" y="4855464"/>
            <a:ext cx="5321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D6C7"/>
                </a:solidFill>
              </a:rPr>
              <a:t>Deny by default: users start with no data access unless a role grants it.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825496" y="5669280"/>
            <a:ext cx="6547104" cy="393192"/>
          </a:xfrm>
          <a:prstGeom prst="roundRect">
            <a:avLst>
              <a:gd name="adj" fmla="val 11628"/>
            </a:avLst>
          </a:prstGeom>
          <a:solidFill>
            <a:srgbClr val="EAF8F6"/>
          </a:solidFill>
          <a:ln w="12700">
            <a:solidFill>
              <a:srgbClr val="BDE7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54096" y="5769864"/>
            <a:ext cx="6099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238"/>
                </a:solidFill>
              </a:rPr>
              <a:t>FabCon update: redesigned auditing shows table access and effective user visibility in context.</a:t>
            </a:r>
            <a:endParaRPr lang="en-US" sz="1050" dirty="0"/>
          </a:p>
        </p:txBody>
      </p:sp>
      <p:sp>
        <p:nvSpPr>
          <p:cNvPr id="35" name="Text 33">
            <a:hlinkClick r:id="rId1" tooltip=""/>
          </p:cNvPr>
          <p:cNvSpPr/>
          <p:nvPr/>
        </p:nvSpPr>
        <p:spPr>
          <a:xfrm>
            <a:off x="621792" y="623620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u="sng" dirty="0">
                <a:solidFill>
                  <a:srgbClr val="6D7888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Sources: Microsoft Learn - Secure your data; OneLake security roles, permissions, and scopes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38D6C7"/>
                </a:solidFill>
              </a:rPr>
              <a:t>FROM DEMO TO ADOPTION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Start with one domain. Prove trust. Scale the pattern.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947672"/>
            <a:ext cx="3364992" cy="2971800"/>
          </a:xfrm>
          <a:prstGeom prst="roundRect">
            <a:avLst>
              <a:gd name="adj" fmla="val 2462"/>
            </a:avLst>
          </a:prstGeom>
          <a:solidFill>
            <a:srgbClr val="102A49"/>
          </a:solidFill>
          <a:ln w="15240">
            <a:solidFill>
              <a:srgbClr val="53BF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94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3BFF5"/>
                </a:solidFill>
              </a:rPr>
              <a:t>0-30 DAYS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14400" y="26151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Establish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14400" y="3264408"/>
            <a:ext cx="2761488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D0DBE8"/>
                </a:solidFill>
              </a:rPr>
              <a:t>Name domain owners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D0DBE8"/>
                </a:solidFill>
              </a:rPr>
              <a:t>Inventory priority assets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D0DBE8"/>
                </a:solidFill>
              </a:rPr>
              <a:t>Define endorsement criteria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25696" y="1947672"/>
            <a:ext cx="3364992" cy="2971800"/>
          </a:xfrm>
          <a:prstGeom prst="roundRect">
            <a:avLst>
              <a:gd name="adj" fmla="val 2462"/>
            </a:avLst>
          </a:prstGeom>
          <a:solidFill>
            <a:srgbClr val="102A49"/>
          </a:solidFill>
          <a:ln w="15240">
            <a:solidFill>
              <a:srgbClr val="8B7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22494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B7CF6"/>
                </a:solidFill>
              </a:rPr>
              <a:t>31-60 DAYS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81728" y="26151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Operationalize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681728" y="3264408"/>
            <a:ext cx="2761488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D0DBE8"/>
                </a:solidFill>
              </a:rPr>
              <a:t>Review Governance Health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D0DBE8"/>
                </a:solidFill>
              </a:rPr>
              <a:t>Close ownership and label gaps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D0DBE8"/>
                </a:solidFill>
              </a:rPr>
              <a:t>Pilot OneLake security roles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93024" y="1947672"/>
            <a:ext cx="3364992" cy="2971800"/>
          </a:xfrm>
          <a:prstGeom prst="roundRect">
            <a:avLst>
              <a:gd name="adj" fmla="val 2462"/>
            </a:avLst>
          </a:prstGeom>
          <a:solidFill>
            <a:srgbClr val="102A49"/>
          </a:solidFill>
          <a:ln w="15240">
            <a:solidFill>
              <a:srgbClr val="17BE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49056" y="22494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7BEBB"/>
                </a:solidFill>
              </a:rPr>
              <a:t>61-90 DAYS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449056" y="26151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Scale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449056" y="3264408"/>
            <a:ext cx="2761488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D0DBE8"/>
                </a:solidFill>
              </a:rPr>
              <a:t>Automate policies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D0DBE8"/>
                </a:solidFill>
              </a:rPr>
              <a:t>Embed catalog in Excel / AI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D0DBE8"/>
                </a:solidFill>
              </a:rPr>
              <a:t>Track reuse and access posture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719072" y="5440680"/>
            <a:ext cx="8741664" cy="621792"/>
          </a:xfrm>
          <a:prstGeom prst="roundRect">
            <a:avLst>
              <a:gd name="adj" fmla="val 11765"/>
            </a:avLst>
          </a:prstGeom>
          <a:solidFill>
            <a:srgbClr val="38D6C7"/>
          </a:solidFill>
          <a:ln w="12700">
            <a:solidFill>
              <a:srgbClr val="38D6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5623560"/>
            <a:ext cx="8247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82F"/>
                </a:solidFill>
              </a:rPr>
              <a:t>NEXT STEP  |  Run a 60-minute governance discovery workshop using the client's Sales domain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649224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799AF"/>
                </a:solidFill>
              </a:rPr>
              <a:t>Sources: aka.ms/FabCon-SQLCon-Barcelona  |  aka.ms/OneLake-EU26  |  learn.microsoft.com/fabric/governance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OneLake Catalog | FabCon 2026 Client Demo</dc:title>
  <dc:subject>OneLake Catalog updates and governance from FabCon 2026</dc:subject>
  <dc:creator>Yeshwant Muralidhar</dc:creator>
  <cp:lastModifiedBy>Yeshwant Muralidhar</cp:lastModifiedBy>
  <cp:revision>1</cp:revision>
  <dcterms:created xsi:type="dcterms:W3CDTF">2026-10-04T04:47:26Z</dcterms:created>
  <dcterms:modified xsi:type="dcterms:W3CDTF">2026-10-04T04:47:26Z</dcterms:modified>
</cp:coreProperties>
</file>